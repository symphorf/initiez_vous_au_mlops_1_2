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Neue Machina Ultra-Bold" charset="1" panose="00000900000000000000"/>
      <p:regular r:id="rId10"/>
    </p:embeddedFont>
    <p:embeddedFont>
      <p:font typeface="Canva Sans" charset="1" panose="020B0503030501040103"/>
      <p:regular r:id="rId11"/>
    </p:embeddedFont>
    <p:embeddedFont>
      <p:font typeface="Akzidenz-Grotesk" charset="1" panose="02000503030000020003"/>
      <p:regular r:id="rId12"/>
    </p:embeddedFont>
    <p:embeddedFont>
      <p:font typeface="Canva Sans Bold" charset="1" panose="020B0803030501040103"/>
      <p:regular r:id="rId13"/>
    </p:embeddedFont>
    <p:embeddedFont>
      <p:font typeface="Canva Sans Bold Italics" charset="1" panose="020B0803030501040103"/>
      <p:regular r:id="rId14"/>
    </p:embeddedFont>
    <p:embeddedFont>
      <p:font typeface="Canva Sans Italics" charset="1" panose="020B0503030501040103"/>
      <p:regular r:id="rId15"/>
    </p:embeddedFont>
    <p:embeddedFont>
      <p:font typeface="Agrandir"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gif" Type="http://schemas.openxmlformats.org/officeDocument/2006/relationships/image"/><Relationship Id="rId3" Target="../media/image9.gif" Type="http://schemas.openxmlformats.org/officeDocument/2006/relationships/image"/><Relationship Id="rId4" Target="../media/image10.gif" Type="http://schemas.openxmlformats.org/officeDocument/2006/relationships/image"/><Relationship Id="rId5" Target="../media/image11.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sp>
        <p:nvSpPr>
          <p:cNvPr name="Freeform 2" id="2"/>
          <p:cNvSpPr/>
          <p:nvPr/>
        </p:nvSpPr>
        <p:spPr>
          <a:xfrm flipH="false" flipV="false" rot="-7160485">
            <a:off x="12762198" y="4130102"/>
            <a:ext cx="6728545" cy="6403217"/>
          </a:xfrm>
          <a:custGeom>
            <a:avLst/>
            <a:gdLst/>
            <a:ahLst/>
            <a:cxnLst/>
            <a:rect r="r" b="b" t="t" l="l"/>
            <a:pathLst>
              <a:path h="6403217" w="6728545">
                <a:moveTo>
                  <a:pt x="0" y="0"/>
                </a:moveTo>
                <a:lnTo>
                  <a:pt x="6728545" y="0"/>
                </a:lnTo>
                <a:lnTo>
                  <a:pt x="6728545" y="6403217"/>
                </a:lnTo>
                <a:lnTo>
                  <a:pt x="0" y="6403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888" y="0"/>
            <a:ext cx="5349535" cy="10287000"/>
            <a:chOff x="0" y="0"/>
            <a:chExt cx="1016958" cy="1955581"/>
          </a:xfrm>
        </p:grpSpPr>
        <p:sp>
          <p:nvSpPr>
            <p:cNvPr name="Freeform 4" id="4"/>
            <p:cNvSpPr/>
            <p:nvPr/>
          </p:nvSpPr>
          <p:spPr>
            <a:xfrm flipH="false" flipV="false" rot="0">
              <a:off x="0" y="0"/>
              <a:ext cx="1016958" cy="1955581"/>
            </a:xfrm>
            <a:custGeom>
              <a:avLst/>
              <a:gdLst/>
              <a:ahLst/>
              <a:cxnLst/>
              <a:rect r="r" b="b" t="t" l="l"/>
              <a:pathLst>
                <a:path h="1955581" w="1016958">
                  <a:moveTo>
                    <a:pt x="0" y="0"/>
                  </a:moveTo>
                  <a:lnTo>
                    <a:pt x="1016958" y="0"/>
                  </a:lnTo>
                  <a:lnTo>
                    <a:pt x="1016958" y="1955581"/>
                  </a:lnTo>
                  <a:lnTo>
                    <a:pt x="0" y="1955581"/>
                  </a:lnTo>
                  <a:close/>
                </a:path>
              </a:pathLst>
            </a:custGeom>
            <a:blipFill>
              <a:blip r:embed="rId4"/>
              <a:stretch>
                <a:fillRect l="-14179" t="0" r="-14179" b="0"/>
              </a:stretch>
            </a:blipFill>
          </p:spPr>
        </p:sp>
      </p:grpSp>
      <p:grpSp>
        <p:nvGrpSpPr>
          <p:cNvPr name="Group 5" id="5"/>
          <p:cNvGrpSpPr/>
          <p:nvPr/>
        </p:nvGrpSpPr>
        <p:grpSpPr>
          <a:xfrm rot="0">
            <a:off x="3137340" y="3608344"/>
            <a:ext cx="13658988" cy="2441234"/>
            <a:chOff x="0" y="0"/>
            <a:chExt cx="3176449" cy="567718"/>
          </a:xfrm>
        </p:grpSpPr>
        <p:sp>
          <p:nvSpPr>
            <p:cNvPr name="Freeform 6" id="6"/>
            <p:cNvSpPr/>
            <p:nvPr/>
          </p:nvSpPr>
          <p:spPr>
            <a:xfrm flipH="false" flipV="false" rot="0">
              <a:off x="0" y="0"/>
              <a:ext cx="3176449" cy="567718"/>
            </a:xfrm>
            <a:custGeom>
              <a:avLst/>
              <a:gdLst/>
              <a:ahLst/>
              <a:cxnLst/>
              <a:rect r="r" b="b" t="t" l="l"/>
              <a:pathLst>
                <a:path h="567718" w="3176449">
                  <a:moveTo>
                    <a:pt x="0" y="0"/>
                  </a:moveTo>
                  <a:lnTo>
                    <a:pt x="3176449" y="0"/>
                  </a:lnTo>
                  <a:lnTo>
                    <a:pt x="3176449" y="567718"/>
                  </a:lnTo>
                  <a:lnTo>
                    <a:pt x="0" y="567718"/>
                  </a:lnTo>
                  <a:close/>
                </a:path>
              </a:pathLst>
            </a:custGeom>
            <a:solidFill>
              <a:srgbClr val="FFFFFF"/>
            </a:solidFill>
            <a:ln w="28575" cap="sq">
              <a:solidFill>
                <a:srgbClr val="000000"/>
              </a:solidFill>
              <a:prstDash val="solid"/>
              <a:miter/>
            </a:ln>
          </p:spPr>
        </p:sp>
        <p:sp>
          <p:nvSpPr>
            <p:cNvPr name="TextBox 7" id="7"/>
            <p:cNvSpPr txBox="true"/>
            <p:nvPr/>
          </p:nvSpPr>
          <p:spPr>
            <a:xfrm>
              <a:off x="0" y="-38100"/>
              <a:ext cx="3176449" cy="605818"/>
            </a:xfrm>
            <a:prstGeom prst="rect">
              <a:avLst/>
            </a:prstGeom>
          </p:spPr>
          <p:txBody>
            <a:bodyPr anchor="ctr" rtlCol="false" tIns="57533" lIns="57533" bIns="57533" rIns="57533"/>
            <a:lstStyle/>
            <a:p>
              <a:pPr algn="ctr">
                <a:lnSpc>
                  <a:spcPts val="2660"/>
                </a:lnSpc>
                <a:spcBef>
                  <a:spcPct val="0"/>
                </a:spcBef>
              </a:pPr>
            </a:p>
          </p:txBody>
        </p:sp>
      </p:grpSp>
      <p:sp>
        <p:nvSpPr>
          <p:cNvPr name="Freeform 8" id="8"/>
          <p:cNvSpPr/>
          <p:nvPr/>
        </p:nvSpPr>
        <p:spPr>
          <a:xfrm flipH="false" flipV="false" rot="3206933">
            <a:off x="-4984565" y="1515579"/>
            <a:ext cx="11239071" cy="9067998"/>
          </a:xfrm>
          <a:custGeom>
            <a:avLst/>
            <a:gdLst/>
            <a:ahLst/>
            <a:cxnLst/>
            <a:rect r="r" b="b" t="t" l="l"/>
            <a:pathLst>
              <a:path h="9067998" w="11239071">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295773" y="4206287"/>
            <a:ext cx="13294274" cy="1420179"/>
          </a:xfrm>
          <a:prstGeom prst="rect">
            <a:avLst/>
          </a:prstGeom>
        </p:spPr>
        <p:txBody>
          <a:bodyPr anchor="t" rtlCol="false" tIns="0" lIns="0" bIns="0" rIns="0">
            <a:spAutoFit/>
          </a:bodyPr>
          <a:lstStyle/>
          <a:p>
            <a:pPr algn="ctr">
              <a:lnSpc>
                <a:spcPts val="5498"/>
              </a:lnSpc>
            </a:pPr>
            <a:r>
              <a:rPr lang="en-US" b="true" sz="5338">
                <a:solidFill>
                  <a:srgbClr val="000000"/>
                </a:solidFill>
                <a:latin typeface="Neue Machina Ultra-Bold"/>
                <a:ea typeface="Neue Machina Ultra-Bold"/>
                <a:cs typeface="Neue Machina Ultra-Bold"/>
                <a:sym typeface="Neue Machina Ultra-Bold"/>
              </a:rPr>
              <a:t>CONFIRMEZ VOS COMPÉTENCES EN MLOPS (PARTIE 2/2)</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85204"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38100"/>
              <a:ext cx="3817918" cy="2459940"/>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6053910" y="877443"/>
            <a:ext cx="6819588" cy="512445"/>
          </a:xfrm>
          <a:prstGeom prst="rect">
            <a:avLst/>
          </a:prstGeom>
        </p:spPr>
        <p:txBody>
          <a:bodyPr anchor="t" rtlCol="false" tIns="0" lIns="0" bIns="0" rIns="0">
            <a:spAutoFit/>
          </a:bodyPr>
          <a:lstStyle/>
          <a:p>
            <a:pPr algn="ctr">
              <a:lnSpc>
                <a:spcPts val="3990"/>
              </a:lnSpc>
            </a:pPr>
            <a:r>
              <a:rPr lang="en-US" b="true" sz="3500">
                <a:solidFill>
                  <a:srgbClr val="000000"/>
                </a:solidFill>
                <a:latin typeface="Neue Machina Ultra-Bold"/>
                <a:ea typeface="Neue Machina Ultra-Bold"/>
                <a:cs typeface="Neue Machina Ultra-Bold"/>
                <a:sym typeface="Neue Machina Ultra-Bold"/>
              </a:rPr>
              <a:t>ÉTAPES DE PRÉSENTATION</a:t>
            </a:r>
          </a:p>
        </p:txBody>
      </p:sp>
      <p:grpSp>
        <p:nvGrpSpPr>
          <p:cNvPr name="Group 6" id="6"/>
          <p:cNvGrpSpPr/>
          <p:nvPr/>
        </p:nvGrpSpPr>
        <p:grpSpPr>
          <a:xfrm rot="0">
            <a:off x="5203120" y="2885998"/>
            <a:ext cx="420879" cy="487502"/>
            <a:chOff x="0" y="0"/>
            <a:chExt cx="561172" cy="650002"/>
          </a:xfrm>
        </p:grpSpPr>
        <p:grpSp>
          <p:nvGrpSpPr>
            <p:cNvPr name="Group 7" id="7"/>
            <p:cNvGrpSpPr/>
            <p:nvPr/>
          </p:nvGrpSpPr>
          <p:grpSpPr>
            <a:xfrm rot="0">
              <a:off x="0" y="0"/>
              <a:ext cx="561172" cy="559944"/>
              <a:chOff x="0" y="0"/>
              <a:chExt cx="900098" cy="898127"/>
            </a:xfrm>
          </p:grpSpPr>
          <p:sp>
            <p:nvSpPr>
              <p:cNvPr name="Freeform 8" id="8"/>
              <p:cNvSpPr/>
              <p:nvPr/>
            </p:nvSpPr>
            <p:spPr>
              <a:xfrm flipH="false" flipV="false" rot="0">
                <a:off x="0" y="0"/>
                <a:ext cx="900098" cy="898127"/>
              </a:xfrm>
              <a:custGeom>
                <a:avLst/>
                <a:gdLst/>
                <a:ahLst/>
                <a:cxnLst/>
                <a:rect r="r" b="b" t="t" l="l"/>
                <a:pathLst>
                  <a:path h="898127" w="900098">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name="TextBox 9" id="9"/>
              <p:cNvSpPr txBox="true"/>
              <p:nvPr/>
            </p:nvSpPr>
            <p:spPr>
              <a:xfrm>
                <a:off x="84384" y="7999"/>
                <a:ext cx="731330" cy="805929"/>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9995" y="-83423"/>
              <a:ext cx="281183" cy="733425"/>
            </a:xfrm>
            <a:prstGeom prst="rect">
              <a:avLst/>
            </a:prstGeom>
          </p:spPr>
          <p:txBody>
            <a:bodyPr anchor="t" rtlCol="false" tIns="0" lIns="0" bIns="0" rIns="0">
              <a:spAutoFit/>
            </a:bodyPr>
            <a:lstStyle/>
            <a:p>
              <a:pPr algn="ctr">
                <a:lnSpc>
                  <a:spcPts val="4200"/>
                </a:lnSpc>
              </a:pPr>
              <a:r>
                <a:rPr lang="en-US" sz="3000">
                  <a:solidFill>
                    <a:srgbClr val="FFFFFF"/>
                  </a:solidFill>
                  <a:latin typeface="Akzidenz-Grotesk"/>
                  <a:ea typeface="Akzidenz-Grotesk"/>
                  <a:cs typeface="Akzidenz-Grotesk"/>
                  <a:sym typeface="Akzidenz-Grotesk"/>
                </a:rPr>
                <a:t>I</a:t>
              </a:r>
            </a:p>
          </p:txBody>
        </p:sp>
      </p:grpSp>
      <p:sp>
        <p:nvSpPr>
          <p:cNvPr name="TextBox 11" id="11"/>
          <p:cNvSpPr txBox="true"/>
          <p:nvPr/>
        </p:nvSpPr>
        <p:spPr>
          <a:xfrm rot="0">
            <a:off x="5193595" y="3559746"/>
            <a:ext cx="229791" cy="587960"/>
          </a:xfrm>
          <a:prstGeom prst="rect">
            <a:avLst/>
          </a:prstGeom>
        </p:spPr>
        <p:txBody>
          <a:bodyPr anchor="t" rtlCol="false" tIns="0" lIns="0" bIns="0" rIns="0">
            <a:spAutoFit/>
          </a:bodyPr>
          <a:lstStyle/>
          <a:p>
            <a:pPr algn="ctr">
              <a:lnSpc>
                <a:spcPts val="4342"/>
              </a:lnSpc>
            </a:pPr>
            <a:r>
              <a:rPr lang="en-US" sz="3101">
                <a:solidFill>
                  <a:srgbClr val="FFFFFF"/>
                </a:solidFill>
                <a:latin typeface="Akzidenz-Grotesk"/>
                <a:ea typeface="Akzidenz-Grotesk"/>
                <a:cs typeface="Akzidenz-Grotesk"/>
                <a:sym typeface="Akzidenz-Grotesk"/>
              </a:rPr>
              <a:t>2</a:t>
            </a:r>
          </a:p>
        </p:txBody>
      </p:sp>
      <p:sp>
        <p:nvSpPr>
          <p:cNvPr name="Freeform 12" id="12"/>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5209490" y="5286897"/>
            <a:ext cx="404984" cy="486357"/>
            <a:chOff x="0" y="0"/>
            <a:chExt cx="539979" cy="648476"/>
          </a:xfrm>
        </p:grpSpPr>
        <p:grpSp>
          <p:nvGrpSpPr>
            <p:cNvPr name="Group 14" id="14"/>
            <p:cNvGrpSpPr/>
            <p:nvPr/>
          </p:nvGrpSpPr>
          <p:grpSpPr>
            <a:xfrm rot="0">
              <a:off x="0" y="0"/>
              <a:ext cx="539979" cy="538797"/>
              <a:chOff x="0" y="0"/>
              <a:chExt cx="900098" cy="898127"/>
            </a:xfrm>
          </p:grpSpPr>
          <p:sp>
            <p:nvSpPr>
              <p:cNvPr name="Freeform 15" id="15"/>
              <p:cNvSpPr/>
              <p:nvPr/>
            </p:nvSpPr>
            <p:spPr>
              <a:xfrm flipH="false" flipV="false" rot="0">
                <a:off x="0" y="0"/>
                <a:ext cx="900098" cy="898127"/>
              </a:xfrm>
              <a:custGeom>
                <a:avLst/>
                <a:gdLst/>
                <a:ahLst/>
                <a:cxnLst/>
                <a:rect r="r" b="b" t="t" l="l"/>
                <a:pathLst>
                  <a:path h="898127" w="900098">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name="TextBox 16" id="16"/>
              <p:cNvSpPr txBox="true"/>
              <p:nvPr/>
            </p:nvSpPr>
            <p:spPr>
              <a:xfrm>
                <a:off x="84384" y="-11051"/>
                <a:ext cx="731330" cy="824979"/>
              </a:xfrm>
              <a:prstGeom prst="rect">
                <a:avLst/>
              </a:prstGeom>
            </p:spPr>
            <p:txBody>
              <a:bodyPr anchor="ctr" rtlCol="false" tIns="50800" lIns="50800" bIns="50800" rIns="50800"/>
              <a:lstStyle/>
              <a:p>
                <a:pPr algn="ctr">
                  <a:lnSpc>
                    <a:spcPts val="3219"/>
                  </a:lnSpc>
                </a:pPr>
              </a:p>
            </p:txBody>
          </p:sp>
        </p:grpSp>
        <p:sp>
          <p:nvSpPr>
            <p:cNvPr name="TextBox 17" id="17"/>
            <p:cNvSpPr txBox="true"/>
            <p:nvPr/>
          </p:nvSpPr>
          <p:spPr>
            <a:xfrm rot="0">
              <a:off x="134708" y="-75424"/>
              <a:ext cx="270564" cy="723900"/>
            </a:xfrm>
            <a:prstGeom prst="rect">
              <a:avLst/>
            </a:prstGeom>
          </p:spPr>
          <p:txBody>
            <a:bodyPr anchor="t" rtlCol="false" tIns="0" lIns="0" bIns="0" rIns="0">
              <a:spAutoFit/>
            </a:bodyPr>
            <a:lstStyle/>
            <a:p>
              <a:pPr algn="ctr">
                <a:lnSpc>
                  <a:spcPts val="4199"/>
                </a:lnSpc>
              </a:pPr>
              <a:r>
                <a:rPr lang="en-US" sz="2999">
                  <a:solidFill>
                    <a:srgbClr val="FFFFFF"/>
                  </a:solidFill>
                  <a:latin typeface="Akzidenz-Grotesk"/>
                  <a:ea typeface="Akzidenz-Grotesk"/>
                  <a:cs typeface="Akzidenz-Grotesk"/>
                  <a:sym typeface="Akzidenz-Grotesk"/>
                </a:rPr>
                <a:t>II</a:t>
              </a:r>
            </a:p>
          </p:txBody>
        </p:sp>
      </p:grpSp>
      <p:sp>
        <p:nvSpPr>
          <p:cNvPr name="TextBox 18" id="18"/>
          <p:cNvSpPr txBox="true"/>
          <p:nvPr/>
        </p:nvSpPr>
        <p:spPr>
          <a:xfrm rot="0">
            <a:off x="5749622" y="2878650"/>
            <a:ext cx="7788677" cy="396241"/>
          </a:xfrm>
          <a:prstGeom prst="rect">
            <a:avLst/>
          </a:prstGeom>
        </p:spPr>
        <p:txBody>
          <a:bodyPr anchor="t" rtlCol="false" tIns="0" lIns="0" bIns="0" rIns="0">
            <a:spAutoFit/>
          </a:bodyPr>
          <a:lstStyle/>
          <a:p>
            <a:pPr algn="l">
              <a:lnSpc>
                <a:spcPts val="3359"/>
              </a:lnSpc>
            </a:pPr>
            <a:r>
              <a:rPr lang="en-US" sz="2399" b="true">
                <a:solidFill>
                  <a:srgbClr val="000000"/>
                </a:solidFill>
                <a:latin typeface="Canva Sans Bold"/>
                <a:ea typeface="Canva Sans Bold"/>
                <a:cs typeface="Canva Sans Bold"/>
                <a:sym typeface="Canva Sans Bold"/>
              </a:rPr>
              <a:t>FONCTIONNEMENT DU PIPELINE CI/CD ET DOCKER</a:t>
            </a:r>
          </a:p>
        </p:txBody>
      </p:sp>
      <p:sp>
        <p:nvSpPr>
          <p:cNvPr name="TextBox 19" id="19"/>
          <p:cNvSpPr txBox="true"/>
          <p:nvPr/>
        </p:nvSpPr>
        <p:spPr>
          <a:xfrm rot="0">
            <a:off x="5750070" y="5275490"/>
            <a:ext cx="7581818" cy="396241"/>
          </a:xfrm>
          <a:prstGeom prst="rect">
            <a:avLst/>
          </a:prstGeom>
        </p:spPr>
        <p:txBody>
          <a:bodyPr anchor="t" rtlCol="false" tIns="0" lIns="0" bIns="0" rIns="0">
            <a:spAutoFit/>
          </a:bodyPr>
          <a:lstStyle/>
          <a:p>
            <a:pPr algn="l">
              <a:lnSpc>
                <a:spcPts val="3359"/>
              </a:lnSpc>
            </a:pPr>
            <a:r>
              <a:rPr lang="en-US" sz="2399" b="true">
                <a:solidFill>
                  <a:srgbClr val="000000"/>
                </a:solidFill>
                <a:latin typeface="Canva Sans Bold"/>
                <a:ea typeface="Canva Sans Bold"/>
                <a:cs typeface="Canva Sans Bold"/>
                <a:sym typeface="Canva Sans Bold"/>
              </a:rPr>
              <a:t>ANALYSE DES DONNÉES ET OPTIMISATIONS</a:t>
            </a:r>
          </a:p>
        </p:txBody>
      </p:sp>
      <p:sp>
        <p:nvSpPr>
          <p:cNvPr name="TextBox 20" id="20"/>
          <p:cNvSpPr txBox="true"/>
          <p:nvPr/>
        </p:nvSpPr>
        <p:spPr>
          <a:xfrm rot="0">
            <a:off x="5953764" y="3312991"/>
            <a:ext cx="5172225"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A- Présentation du repo</a:t>
            </a:r>
          </a:p>
        </p:txBody>
      </p:sp>
      <p:sp>
        <p:nvSpPr>
          <p:cNvPr name="TextBox 21" id="21"/>
          <p:cNvSpPr txBox="true"/>
          <p:nvPr/>
        </p:nvSpPr>
        <p:spPr>
          <a:xfrm rot="0">
            <a:off x="5953764" y="3747331"/>
            <a:ext cx="5993733"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B- Démonstration d’un push</a:t>
            </a:r>
          </a:p>
        </p:txBody>
      </p:sp>
      <p:sp>
        <p:nvSpPr>
          <p:cNvPr name="TextBox 22" id="22"/>
          <p:cNvSpPr txBox="true"/>
          <p:nvPr/>
        </p:nvSpPr>
        <p:spPr>
          <a:xfrm rot="0">
            <a:off x="6036885" y="5703194"/>
            <a:ext cx="7303183"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A- Rapport de drifts (html)</a:t>
            </a:r>
          </a:p>
        </p:txBody>
      </p:sp>
      <p:sp>
        <p:nvSpPr>
          <p:cNvPr name="TextBox 23" id="23"/>
          <p:cNvSpPr txBox="true"/>
          <p:nvPr/>
        </p:nvSpPr>
        <p:spPr>
          <a:xfrm rot="0">
            <a:off x="6036885" y="6118485"/>
            <a:ext cx="7872337"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B- Lancement Profilage de l’app et optimisation</a:t>
            </a:r>
          </a:p>
        </p:txBody>
      </p:sp>
      <p:sp>
        <p:nvSpPr>
          <p:cNvPr name="TextBox 24" id="2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2</a:t>
            </a:r>
          </a:p>
        </p:txBody>
      </p:sp>
      <p:sp>
        <p:nvSpPr>
          <p:cNvPr name="TextBox 25" id="25"/>
          <p:cNvSpPr txBox="true"/>
          <p:nvPr/>
        </p:nvSpPr>
        <p:spPr>
          <a:xfrm rot="0">
            <a:off x="5953764" y="4136598"/>
            <a:ext cx="6946284"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C- Dockerisation et test de l’app via FastAPI</a:t>
            </a:r>
          </a:p>
        </p:txBody>
      </p:sp>
      <p:sp>
        <p:nvSpPr>
          <p:cNvPr name="Freeform 26" id="26"/>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7" id="27"/>
          <p:cNvSpPr txBox="true"/>
          <p:nvPr/>
        </p:nvSpPr>
        <p:spPr>
          <a:xfrm rot="0">
            <a:off x="5193595" y="8098311"/>
            <a:ext cx="8986432" cy="815341"/>
          </a:xfrm>
          <a:prstGeom prst="rect">
            <a:avLst/>
          </a:prstGeom>
        </p:spPr>
        <p:txBody>
          <a:bodyPr anchor="t" rtlCol="false" tIns="0" lIns="0" bIns="0" rIns="0">
            <a:spAutoFit/>
          </a:bodyPr>
          <a:lstStyle/>
          <a:p>
            <a:pPr algn="l">
              <a:lnSpc>
                <a:spcPts val="3359"/>
              </a:lnSpc>
            </a:pPr>
            <a:r>
              <a:rPr lang="en-US" sz="2399" i="true" b="true">
                <a:solidFill>
                  <a:srgbClr val="000000"/>
                </a:solidFill>
                <a:latin typeface="Canva Sans Bold Italics"/>
                <a:ea typeface="Canva Sans Bold Italics"/>
                <a:cs typeface="Canva Sans Bold Italics"/>
                <a:sym typeface="Canva Sans Bold Italics"/>
              </a:rPr>
              <a:t>NB :</a:t>
            </a:r>
            <a:r>
              <a:rPr lang="en-US" sz="2399" i="true">
                <a:solidFill>
                  <a:srgbClr val="000000"/>
                </a:solidFill>
                <a:latin typeface="Canva Sans Italics"/>
                <a:ea typeface="Canva Sans Italics"/>
                <a:cs typeface="Canva Sans Italics"/>
                <a:sym typeface="Canva Sans Italics"/>
              </a:rPr>
              <a:t> Cette présentation se fait entièrement sur les interfaces de démonstration (Github, Docker, HuggingFace, FastAPI...)</a:t>
            </a:r>
          </a:p>
        </p:txBody>
      </p:sp>
      <p:sp>
        <p:nvSpPr>
          <p:cNvPr name="TextBox 28" id="28"/>
          <p:cNvSpPr txBox="true"/>
          <p:nvPr/>
        </p:nvSpPr>
        <p:spPr>
          <a:xfrm rot="0">
            <a:off x="6027360" y="6552826"/>
            <a:ext cx="6872688"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C- Démonstration HuggingFace</a:t>
            </a:r>
          </a:p>
        </p:txBody>
      </p:sp>
      <p:sp>
        <p:nvSpPr>
          <p:cNvPr name="TextBox 29" id="29"/>
          <p:cNvSpPr txBox="true"/>
          <p:nvPr/>
        </p:nvSpPr>
        <p:spPr>
          <a:xfrm rot="0">
            <a:off x="5308490" y="1820146"/>
            <a:ext cx="6518284" cy="396241"/>
          </a:xfrm>
          <a:prstGeom prst="rect">
            <a:avLst/>
          </a:prstGeom>
        </p:spPr>
        <p:txBody>
          <a:bodyPr anchor="t" rtlCol="false" tIns="0" lIns="0" bIns="0" rIns="0">
            <a:spAutoFit/>
          </a:bodyPr>
          <a:lstStyle/>
          <a:p>
            <a:pPr algn="l">
              <a:lnSpc>
                <a:spcPts val="3359"/>
              </a:lnSpc>
            </a:pPr>
            <a:r>
              <a:rPr lang="en-US" sz="2399" b="true">
                <a:solidFill>
                  <a:srgbClr val="000000"/>
                </a:solidFill>
                <a:latin typeface="Canva Sans Bold"/>
                <a:ea typeface="Canva Sans Bold"/>
                <a:cs typeface="Canva Sans Bold"/>
                <a:sym typeface="Canva Sans Bold"/>
              </a:rPr>
              <a:t>INTRODUCTION : </a:t>
            </a:r>
          </a:p>
        </p:txBody>
      </p:sp>
      <p:sp>
        <p:nvSpPr>
          <p:cNvPr name="TextBox 30" id="30"/>
          <p:cNvSpPr txBox="true"/>
          <p:nvPr/>
        </p:nvSpPr>
        <p:spPr>
          <a:xfrm rot="0">
            <a:off x="7946898" y="1831847"/>
            <a:ext cx="5172225"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Contexte de la mission</a:t>
            </a:r>
          </a:p>
        </p:txBody>
      </p:sp>
      <p:sp>
        <p:nvSpPr>
          <p:cNvPr name="TextBox 31" id="31"/>
          <p:cNvSpPr txBox="true"/>
          <p:nvPr/>
        </p:nvSpPr>
        <p:spPr>
          <a:xfrm rot="0">
            <a:off x="5953764" y="4570939"/>
            <a:ext cx="7955458" cy="396241"/>
          </a:xfrm>
          <a:prstGeom prst="rect">
            <a:avLst/>
          </a:prstGeom>
        </p:spPr>
        <p:txBody>
          <a:bodyPr anchor="t" rtlCol="false" tIns="0" lIns="0" bIns="0" rIns="0">
            <a:spAutoFit/>
          </a:bodyPr>
          <a:lstStyle/>
          <a:p>
            <a:pPr algn="l">
              <a:lnSpc>
                <a:spcPts val="3359"/>
              </a:lnSpc>
            </a:pPr>
            <a:r>
              <a:rPr lang="en-US" sz="2399">
                <a:solidFill>
                  <a:srgbClr val="000000"/>
                </a:solidFill>
                <a:latin typeface="Canva Sans"/>
                <a:ea typeface="Canva Sans"/>
                <a:cs typeface="Canva Sans"/>
                <a:sym typeface="Canva Sans"/>
              </a:rPr>
              <a:t>D- Vérification de la collecte des données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85204"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38100"/>
              <a:ext cx="3817918" cy="2459940"/>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5734206" y="1424967"/>
            <a:ext cx="6819588" cy="512445"/>
          </a:xfrm>
          <a:prstGeom prst="rect">
            <a:avLst/>
          </a:prstGeom>
        </p:spPr>
        <p:txBody>
          <a:bodyPr anchor="t" rtlCol="false" tIns="0" lIns="0" bIns="0" rIns="0">
            <a:spAutoFit/>
          </a:bodyPr>
          <a:lstStyle/>
          <a:p>
            <a:pPr algn="ctr">
              <a:lnSpc>
                <a:spcPts val="3990"/>
              </a:lnSpc>
            </a:pPr>
            <a:r>
              <a:rPr lang="en-US" b="true" sz="3500">
                <a:solidFill>
                  <a:srgbClr val="000000"/>
                </a:solidFill>
                <a:latin typeface="Neue Machina Ultra-Bold"/>
                <a:ea typeface="Neue Machina Ultra-Bold"/>
                <a:cs typeface="Neue Machina Ultra-Bold"/>
                <a:sym typeface="Neue Machina Ultra-Bold"/>
              </a:rPr>
              <a:t>INTRODUCTION </a:t>
            </a:r>
          </a:p>
        </p:txBody>
      </p:sp>
      <p:sp>
        <p:nvSpPr>
          <p:cNvPr name="TextBox 6" id="6"/>
          <p:cNvSpPr txBox="true"/>
          <p:nvPr/>
        </p:nvSpPr>
        <p:spPr>
          <a:xfrm rot="0">
            <a:off x="5193595" y="3559746"/>
            <a:ext cx="229791" cy="587960"/>
          </a:xfrm>
          <a:prstGeom prst="rect">
            <a:avLst/>
          </a:prstGeom>
        </p:spPr>
        <p:txBody>
          <a:bodyPr anchor="t" rtlCol="false" tIns="0" lIns="0" bIns="0" rIns="0">
            <a:spAutoFit/>
          </a:bodyPr>
          <a:lstStyle/>
          <a:p>
            <a:pPr algn="ctr">
              <a:lnSpc>
                <a:spcPts val="4342"/>
              </a:lnSpc>
            </a:pPr>
            <a:r>
              <a:rPr lang="en-US" sz="3101">
                <a:solidFill>
                  <a:srgbClr val="FFFFFF"/>
                </a:solidFill>
                <a:latin typeface="Akzidenz-Grotesk"/>
                <a:ea typeface="Akzidenz-Grotesk"/>
                <a:cs typeface="Akzidenz-Grotesk"/>
                <a:sym typeface="Akzidenz-Grotesk"/>
              </a:rPr>
              <a:t>2</a:t>
            </a:r>
          </a:p>
        </p:txBody>
      </p:sp>
      <p:sp>
        <p:nvSpPr>
          <p:cNvPr name="Freeform 7" id="7"/>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3</a:t>
            </a:r>
          </a:p>
        </p:txBody>
      </p:sp>
      <p:sp>
        <p:nvSpPr>
          <p:cNvPr name="Freeform 9" id="9"/>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5050720" y="2989044"/>
            <a:ext cx="8986432" cy="3329941"/>
          </a:xfrm>
          <a:prstGeom prst="rect">
            <a:avLst/>
          </a:prstGeom>
        </p:spPr>
        <p:txBody>
          <a:bodyPr anchor="t" rtlCol="false" tIns="0" lIns="0" bIns="0" rIns="0">
            <a:spAutoFit/>
          </a:bodyPr>
          <a:lstStyle/>
          <a:p>
            <a:pPr algn="l">
              <a:lnSpc>
                <a:spcPts val="3359"/>
              </a:lnSpc>
            </a:pPr>
            <a:r>
              <a:rPr lang="en-US" sz="2399" i="true" b="true">
                <a:solidFill>
                  <a:srgbClr val="000000"/>
                </a:solidFill>
                <a:latin typeface="Canva Sans Bold Italics"/>
                <a:ea typeface="Canva Sans Bold Italics"/>
                <a:cs typeface="Canva Sans Bold Italics"/>
                <a:sym typeface="Canva Sans Bold Italics"/>
              </a:rPr>
              <a:t>Objectif :</a:t>
            </a:r>
            <a:r>
              <a:rPr lang="en-US" sz="2399" i="true">
                <a:solidFill>
                  <a:srgbClr val="000000"/>
                </a:solidFill>
                <a:latin typeface="Canva Sans Italics"/>
                <a:ea typeface="Canva Sans Italics"/>
                <a:cs typeface="Canva Sans Italics"/>
                <a:sym typeface="Canva Sans Italics"/>
              </a:rPr>
              <a:t> L'objectif de ce travail est de déployer en production le modèle de scoring développé précédemment en créant une API conteneurisée avec Docker pour le département "Crédit Express". Il s'agit également de mettre en place un système de monitoring via un dashboard pour suivre les performances du modèle en environnement de production.</a:t>
            </a:r>
          </a:p>
          <a:p>
            <a:pPr algn="l">
              <a:lnSpc>
                <a:spcPts val="33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5000"/>
          </a:blip>
          <a:srcRect l="0" t="0" r="0" b="0"/>
          <a:stretch>
            <a:fillRect/>
          </a:stretch>
        </p:blipFill>
        <p:spPr>
          <a:xfrm flipH="false" flipV="false" rot="0">
            <a:off x="-1662681" y="-6438340"/>
            <a:ext cx="13761077" cy="14153590"/>
          </a:xfrm>
          <a:prstGeom prst="rect">
            <a:avLst/>
          </a:prstGeom>
        </p:spPr>
      </p:pic>
      <p:grpSp>
        <p:nvGrpSpPr>
          <p:cNvPr name="Group 3" id="3"/>
          <p:cNvGrpSpPr/>
          <p:nvPr/>
        </p:nvGrpSpPr>
        <p:grpSpPr>
          <a:xfrm rot="0">
            <a:off x="4911263" y="4219178"/>
            <a:ext cx="8465475" cy="1848644"/>
            <a:chOff x="0" y="0"/>
            <a:chExt cx="11287299" cy="2464859"/>
          </a:xfrm>
        </p:grpSpPr>
        <p:sp>
          <p:nvSpPr>
            <p:cNvPr name="TextBox 4" id="4"/>
            <p:cNvSpPr txBox="true"/>
            <p:nvPr/>
          </p:nvSpPr>
          <p:spPr>
            <a:xfrm rot="0">
              <a:off x="0" y="-190500"/>
              <a:ext cx="11287299" cy="1600200"/>
            </a:xfrm>
            <a:prstGeom prst="rect">
              <a:avLst/>
            </a:prstGeom>
          </p:spPr>
          <p:txBody>
            <a:bodyPr anchor="t" rtlCol="false" tIns="0" lIns="0" bIns="0" rIns="0">
              <a:spAutoFit/>
            </a:bodyPr>
            <a:lstStyle/>
            <a:p>
              <a:pPr algn="ctr" marL="0" indent="0" lvl="0">
                <a:lnSpc>
                  <a:spcPts val="8399"/>
                </a:lnSpc>
                <a:spcBef>
                  <a:spcPct val="0"/>
                </a:spcBef>
              </a:pPr>
              <a:r>
                <a:rPr lang="en-US" sz="6999" u="none">
                  <a:solidFill>
                    <a:srgbClr val="2B2B2B"/>
                  </a:solidFill>
                  <a:latin typeface="Agrandir"/>
                  <a:ea typeface="Agrandir"/>
                  <a:cs typeface="Agrandir"/>
                  <a:sym typeface="Agrandir"/>
                </a:rPr>
                <a:t>Thank you!</a:t>
              </a:r>
            </a:p>
          </p:txBody>
        </p:sp>
        <p:sp>
          <p:nvSpPr>
            <p:cNvPr name="TextBox 5" id="5"/>
            <p:cNvSpPr txBox="true"/>
            <p:nvPr/>
          </p:nvSpPr>
          <p:spPr>
            <a:xfrm rot="0">
              <a:off x="0" y="1819487"/>
              <a:ext cx="11287299" cy="645371"/>
            </a:xfrm>
            <a:prstGeom prst="rect">
              <a:avLst/>
            </a:prstGeom>
          </p:spPr>
          <p:txBody>
            <a:bodyPr anchor="t" rtlCol="false" tIns="0" lIns="0" bIns="0" rIns="0">
              <a:spAutoFit/>
            </a:bodyPr>
            <a:lstStyle/>
            <a:p>
              <a:pPr algn="ctr" marL="0" indent="0" lvl="0">
                <a:lnSpc>
                  <a:spcPts val="3640"/>
                </a:lnSpc>
              </a:pPr>
            </a:p>
          </p:txBody>
        </p:sp>
      </p:grpSp>
      <p:pic>
        <p:nvPicPr>
          <p:cNvPr name="Picture 6" id="6"/>
          <p:cNvPicPr>
            <a:picLocks noChangeAspect="true"/>
          </p:cNvPicPr>
          <p:nvPr/>
        </p:nvPicPr>
        <p:blipFill>
          <a:blip r:embed="rId3">
            <a:alphaModFix amt="25000"/>
          </a:blip>
          <a:srcRect l="0" t="0" r="0" b="0"/>
          <a:stretch>
            <a:fillRect/>
          </a:stretch>
        </p:blipFill>
        <p:spPr>
          <a:xfrm flipH="false" flipV="false" rot="0">
            <a:off x="11511932" y="6947324"/>
            <a:ext cx="8674222" cy="7652259"/>
          </a:xfrm>
          <a:prstGeom prst="rect">
            <a:avLst/>
          </a:prstGeom>
        </p:spPr>
      </p:pic>
      <p:pic>
        <p:nvPicPr>
          <p:cNvPr name="Picture 7" id="7"/>
          <p:cNvPicPr>
            <a:picLocks noChangeAspect="true"/>
          </p:cNvPicPr>
          <p:nvPr/>
        </p:nvPicPr>
        <p:blipFill>
          <a:blip r:embed="rId4">
            <a:alphaModFix amt="25000"/>
          </a:blip>
          <a:srcRect l="0" t="0" r="0" b="0"/>
          <a:stretch>
            <a:fillRect/>
          </a:stretch>
        </p:blipFill>
        <p:spPr>
          <a:xfrm flipH="false" flipV="false" rot="0">
            <a:off x="15141061" y="2810706"/>
            <a:ext cx="6293877" cy="5612932"/>
          </a:xfrm>
          <a:prstGeom prst="rect">
            <a:avLst/>
          </a:prstGeom>
        </p:spPr>
      </p:pic>
      <p:pic>
        <p:nvPicPr>
          <p:cNvPr name="Picture 8" id="8"/>
          <p:cNvPicPr>
            <a:picLocks noChangeAspect="true"/>
          </p:cNvPicPr>
          <p:nvPr/>
        </p:nvPicPr>
        <p:blipFill>
          <a:blip r:embed="rId5">
            <a:alphaModFix amt="25000"/>
          </a:blip>
          <a:srcRect l="0" t="0" r="0" b="0"/>
          <a:stretch>
            <a:fillRect/>
          </a:stretch>
        </p:blipFill>
        <p:spPr>
          <a:xfrm flipH="false" flipV="false" rot="-3435299">
            <a:off x="-3167656" y="638455"/>
            <a:ext cx="6335313" cy="7076795"/>
          </a:xfrm>
          <a:prstGeom prst="rect">
            <a:avLst/>
          </a:prstGeom>
        </p:spPr>
      </p:pic>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B2B2B"/>
                </a:solidFill>
                <a:latin typeface="Canva Sans"/>
                <a:ea typeface="Canva Sans"/>
                <a:cs typeface="Canva Sans"/>
                <a:sym typeface="Canva Sans"/>
              </a:rP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DAG2Ridhe0k</dc:identifier>
  <dcterms:modified xsi:type="dcterms:W3CDTF">2011-08-01T06:04:30Z</dcterms:modified>
  <cp:revision>1</cp:revision>
  <dc:title>Copy of Fonkou_Symphor_3_présentation_052025</dc:title>
</cp:coreProperties>
</file>